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Nunit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Nunito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uni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Nunito-boldItalic.fntdata"/><Relationship Id="rId30" Type="http://schemas.openxmlformats.org/officeDocument/2006/relationships/font" Target="fonts/Nuni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c53af3ad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cc53af3ad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c53af3ad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cc53af3ad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f33b327a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cf33b327a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cf33b327a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cf33b327a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cbd94ae9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dcbd94ae9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cc53af3ad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cc53af3ad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cf33b327a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cf33b327a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cf33b327a0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cf33b327a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1a707396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d1a707396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cc53af3ad2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cc53af3ad2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dcbd94ae9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dcbd94ae9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cbd94ae9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dcbd94ae9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dcbd94ae9a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dcbd94ae9a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cf33b327a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cf33b327a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dcbd94ae9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dcbd94ae9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cf33b327a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cf33b327a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cf33b327a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cf33b327a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dcbd94ae9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dcbd94ae9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dcbd94ae9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dcbd94ae9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dcbd94ae9a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dcbd94ae9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dcbd94ae9a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dcbd94ae9a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/>
              <a:t>Survey on Driverless Vehicles</a:t>
            </a:r>
            <a:endParaRPr sz="4700"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By: Unity Gardner, Jared Caldwell, Logan Martinez, Christian Watkins</a:t>
            </a:r>
            <a:endParaRPr sz="2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Autonomous Vehicles?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AVs, otherwise known as </a:t>
            </a:r>
            <a:r>
              <a:rPr b="1" lang="en"/>
              <a:t>Autonomous Vehicles</a:t>
            </a:r>
            <a:r>
              <a:rPr lang="en"/>
              <a:t> are cars or </a:t>
            </a:r>
            <a:r>
              <a:rPr lang="en"/>
              <a:t>trucks that can perform without a person operating them.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AVs work with a combination of cameras, sensors, motors, and software that record roads and environment to accurately drive and function.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Their applications can be public or private, but have the objective to make roadways and operations more efficient and safe.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Levels 0-2 of AV’s</a:t>
            </a:r>
            <a:endParaRPr/>
          </a:p>
        </p:txBody>
      </p:sp>
      <p:sp>
        <p:nvSpPr>
          <p:cNvPr id="141" name="Google Shape;141;p1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Level 0:</a:t>
            </a:r>
            <a:r>
              <a:rPr lang="en"/>
              <a:t> No Automation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Entirely reliant on a person operating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Level 1: </a:t>
            </a:r>
            <a:r>
              <a:rPr lang="en"/>
              <a:t>Driver</a:t>
            </a:r>
            <a:r>
              <a:rPr lang="en"/>
              <a:t> Assistance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person is driving, but a system can take control of speed </a:t>
            </a:r>
            <a:r>
              <a:rPr i="1" lang="en"/>
              <a:t>or</a:t>
            </a:r>
            <a:r>
              <a:rPr lang="en"/>
              <a:t> guidance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Level 2: </a:t>
            </a:r>
            <a:r>
              <a:rPr lang="en"/>
              <a:t>Some Self Driving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vehicle’s system can takeover both speed </a:t>
            </a:r>
            <a:r>
              <a:rPr i="1" lang="en"/>
              <a:t>and</a:t>
            </a:r>
            <a:r>
              <a:rPr lang="en"/>
              <a:t> control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Levels 3-5 of AV’s</a:t>
            </a:r>
            <a:endParaRPr/>
          </a:p>
        </p:txBody>
      </p:sp>
      <p:sp>
        <p:nvSpPr>
          <p:cNvPr id="147" name="Google Shape;147;p16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Level 3: </a:t>
            </a:r>
            <a:r>
              <a:rPr lang="en"/>
              <a:t>Conditional Automation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vehicle can be in full control in </a:t>
            </a:r>
            <a:r>
              <a:rPr i="1" lang="en"/>
              <a:t>some </a:t>
            </a:r>
            <a:r>
              <a:rPr lang="en"/>
              <a:t>conditions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Level 4: </a:t>
            </a:r>
            <a:r>
              <a:rPr lang="en"/>
              <a:t>Full</a:t>
            </a:r>
            <a:r>
              <a:rPr lang="en"/>
              <a:t> self-driving (with exceptions)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vehicle is under full control but in specific safe environments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Level 5: </a:t>
            </a:r>
            <a:r>
              <a:rPr lang="en"/>
              <a:t>Full self-driving (in all conditions)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vehicle is under full control in all situations and all environments, no driver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Sensors levels  1 and 2 of AV</a:t>
            </a:r>
            <a:endParaRPr/>
          </a:p>
        </p:txBody>
      </p:sp>
      <p:sp>
        <p:nvSpPr>
          <p:cNvPr id="153" name="Google Shape;153;p17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(1)A</a:t>
            </a:r>
            <a:r>
              <a:rPr lang="en"/>
              <a:t>wareness driving- allows </a:t>
            </a:r>
            <a:r>
              <a:rPr lang="en"/>
              <a:t>vehicles</a:t>
            </a:r>
            <a:r>
              <a:rPr lang="en"/>
              <a:t> to know eachothers locations and pass along hazard information.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(2)Sensing driving- enables vehicles to provide information captured by sensors in the vehicle and use this information to have accurate knowledge of their surroundings.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Sensors at levels 3-5 of AV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8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(3)C</a:t>
            </a:r>
            <a:r>
              <a:rPr lang="en"/>
              <a:t>ooperative driving- permits vehicles to share intended future actions with other vehicles such as destinations and maneuvers.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(4&amp;5)Synchronized cooperative driving - Accident-Free Driving- vehicles capable of driving autonomously under any scenario, synchronizing trajectories and optimal driving patterns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Problems</a:t>
            </a:r>
            <a:endParaRPr/>
          </a:p>
        </p:txBody>
      </p:sp>
      <p:sp>
        <p:nvSpPr>
          <p:cNvPr id="165" name="Google Shape;165;p19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Sensors and Computing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system has to record information and respond very quickly, this can be difficult to process in a timely manner.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Vehicle-to-Vehicle Communication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Lots of development is needed for vehicles to communicate and react to </a:t>
            </a:r>
            <a:r>
              <a:rPr lang="en"/>
              <a:t>each other.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Ethical Questions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Dilemmas may present themselves on the road and a system may have to morally weigh what to hit or avoid. Leaving a program responsible for lives is incredibly challenging.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Different types of attacks</a:t>
            </a:r>
            <a:endParaRPr/>
          </a:p>
        </p:txBody>
      </p:sp>
      <p:sp>
        <p:nvSpPr>
          <p:cNvPr id="171" name="Google Shape;171;p20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2" name="Google Shape;17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575" y="1426775"/>
            <a:ext cx="7898218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Infrastructure</a:t>
            </a:r>
            <a:r>
              <a:rPr lang="en"/>
              <a:t> A</a:t>
            </a:r>
            <a:r>
              <a:rPr lang="en"/>
              <a:t>ccommodations</a:t>
            </a:r>
            <a:endParaRPr/>
          </a:p>
        </p:txBody>
      </p:sp>
      <p:sp>
        <p:nvSpPr>
          <p:cNvPr id="178" name="Google Shape;178;p21"/>
          <p:cNvSpPr txBox="1"/>
          <p:nvPr>
            <p:ph idx="1" type="body"/>
          </p:nvPr>
        </p:nvSpPr>
        <p:spPr>
          <a:xfrm>
            <a:off x="670575" y="1453550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/>
              <a:t>Why changes are needed</a:t>
            </a:r>
            <a:endParaRPr b="1" sz="16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50"/>
              <a:t>Autonomous</a:t>
            </a:r>
            <a:r>
              <a:rPr lang="en" sz="1650"/>
              <a:t> </a:t>
            </a:r>
            <a:r>
              <a:rPr lang="en" sz="1650"/>
              <a:t>vehicles will need to communicate via sensors to get updates on road condition while being able to send out warnings about potentially unsafe conditions. </a:t>
            </a:r>
            <a:endParaRPr sz="16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50"/>
              <a:t>Closed in spaces would need additional sensors to ensure safety for all passengers with being able to detect more around them.</a:t>
            </a:r>
            <a:endParaRPr sz="1650"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50"/>
          </a:p>
        </p:txBody>
      </p:sp>
      <p:pic>
        <p:nvPicPr>
          <p:cNvPr id="179" name="Google Shape;17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2875" y="2989025"/>
            <a:ext cx="3849626" cy="1947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World Improvements</a:t>
            </a:r>
            <a:endParaRPr/>
          </a:p>
        </p:txBody>
      </p:sp>
      <p:sp>
        <p:nvSpPr>
          <p:cNvPr id="185" name="Google Shape;185;p22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Essential Improvements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Everybody will have freedom of mobility even those who might not have been able to drive due to disabilities.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Will provide a significant reduction in the number of people killed in traffic accidents while giving m</a:t>
            </a:r>
            <a:r>
              <a:rPr lang="en"/>
              <a:t>ore time to work, relax, or sleep during the hands off ride.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3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Technology in Autonomous Vehicles</a:t>
            </a:r>
            <a:endParaRPr/>
          </a:p>
        </p:txBody>
      </p:sp>
      <p:sp>
        <p:nvSpPr>
          <p:cNvPr id="191" name="Google Shape;191;p23"/>
          <p:cNvSpPr txBox="1"/>
          <p:nvPr>
            <p:ph idx="1" type="body"/>
          </p:nvPr>
        </p:nvSpPr>
        <p:spPr>
          <a:xfrm>
            <a:off x="567700" y="1464950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Autonomous Avs have a ton of technology to determine how it moves and sees the world around it.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Examples include: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LiDAR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Cameras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GPS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Radar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a ton of sensors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and of course an </a:t>
            </a:r>
            <a:r>
              <a:rPr lang="en"/>
              <a:t>algorithm</a:t>
            </a:r>
            <a:r>
              <a:rPr lang="en"/>
              <a:t> to control the </a:t>
            </a:r>
            <a:r>
              <a:rPr lang="en"/>
              <a:t>vehicles</a:t>
            </a:r>
            <a:r>
              <a:rPr lang="en"/>
              <a:t> functions like braking.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There is so much technology in these things to try and make them safe and </a:t>
            </a:r>
            <a:r>
              <a:rPr lang="en"/>
              <a:t>practical.</a:t>
            </a:r>
            <a:endParaRPr/>
          </a:p>
        </p:txBody>
      </p:sp>
      <p:pic>
        <p:nvPicPr>
          <p:cNvPr id="192" name="Google Shape;19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4450" y="1729000"/>
            <a:ext cx="2557000" cy="168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 txBox="1"/>
          <p:nvPr>
            <p:ph type="title"/>
          </p:nvPr>
        </p:nvSpPr>
        <p:spPr>
          <a:xfrm>
            <a:off x="311700" y="376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Sensor functions</a:t>
            </a:r>
            <a:endParaRPr/>
          </a:p>
        </p:txBody>
      </p:sp>
      <p:sp>
        <p:nvSpPr>
          <p:cNvPr id="198" name="Google Shape;198;p24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LiDAR(</a:t>
            </a:r>
            <a:r>
              <a:rPr lang="en"/>
              <a:t>Light Detection and Ranging)</a:t>
            </a:r>
            <a:r>
              <a:rPr lang="en"/>
              <a:t>- emits light pulses that reflect objects to generate a three-dimensional map of the surrounding environment.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VLC(Visible Light </a:t>
            </a:r>
            <a:r>
              <a:rPr lang="en"/>
              <a:t>Communication</a:t>
            </a:r>
            <a:r>
              <a:rPr lang="en"/>
              <a:t>)- wireless communication using </a:t>
            </a:r>
            <a:r>
              <a:rPr lang="en"/>
              <a:t>LEDs</a:t>
            </a:r>
            <a:r>
              <a:rPr lang="en"/>
              <a:t> to transmit data by modulating light at imperceptible speed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Ultrasonic Ranging Devices (URD)- senses objects around the </a:t>
            </a:r>
            <a:r>
              <a:rPr lang="en"/>
              <a:t>vehicle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Millimeter Wave Radar- uses electromagnetic waves to detect speed, distance, and angle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about sensor functions</a:t>
            </a:r>
            <a:endParaRPr/>
          </a:p>
        </p:txBody>
      </p:sp>
      <p:sp>
        <p:nvSpPr>
          <p:cNvPr id="204" name="Google Shape;204;p2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Infrared Ranging- assists with 3d mapping with night vision and thermal imaging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Ultrasonic Ranging Devices (URD)- senses objects around the vehicle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Millimeter Wave Radar- uses electromagnetic waves to detect speed, distance, and angle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Infrared Ranging- assists with 3d mapping with night vision and thermal imaging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6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1" name="Google Shape;21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225" y="213763"/>
            <a:ext cx="8069575" cy="471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Positioning functions</a:t>
            </a:r>
            <a:endParaRPr/>
          </a:p>
        </p:txBody>
      </p:sp>
      <p:sp>
        <p:nvSpPr>
          <p:cNvPr id="217" name="Google Shape;217;p27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GPS(Global Positioning System)- enables the vehicle to know its exact location at all times.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Doppler Radar Speedometers- works in all weather conditions and calculates the </a:t>
            </a:r>
            <a:r>
              <a:rPr lang="en"/>
              <a:t>velocity</a:t>
            </a:r>
            <a:r>
              <a:rPr lang="en"/>
              <a:t> of moving objects even being able to differentiate between pedestrians, cyclists, and other </a:t>
            </a:r>
            <a:r>
              <a:rPr lang="en"/>
              <a:t>vehicles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about positioning functions</a:t>
            </a:r>
            <a:endParaRPr/>
          </a:p>
        </p:txBody>
      </p:sp>
      <p:sp>
        <p:nvSpPr>
          <p:cNvPr id="223" name="Google Shape;223;p28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Radar Cruise Control-  increases safety to detect distance from objects and maintain the safe distance from objects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Radar Based Obstacle Detection Systems- provides reliable detection of all obstacles while able to differentiate between what the objects may be in all weather conditions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little more about </a:t>
            </a:r>
            <a:r>
              <a:rPr lang="en"/>
              <a:t>Vision </a:t>
            </a:r>
            <a:r>
              <a:rPr lang="en"/>
              <a:t>in Autonomous Vehicles</a:t>
            </a:r>
            <a:endParaRPr/>
          </a:p>
        </p:txBody>
      </p:sp>
      <p:sp>
        <p:nvSpPr>
          <p:cNvPr id="229" name="Google Shape;229;p29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AVs </a:t>
            </a:r>
            <a:r>
              <a:rPr lang="en"/>
              <a:t>usually</a:t>
            </a:r>
            <a:r>
              <a:rPr lang="en"/>
              <a:t> contains a decent amount of cameras to detect the world around it, they are placed all around the </a:t>
            </a:r>
            <a:r>
              <a:rPr lang="en"/>
              <a:t>vehicle</a:t>
            </a:r>
            <a:r>
              <a:rPr lang="en"/>
              <a:t> to avoid having </a:t>
            </a:r>
            <a:r>
              <a:rPr lang="en"/>
              <a:t>any blind</a:t>
            </a:r>
            <a:r>
              <a:rPr lang="en"/>
              <a:t> spots. The cameras help detect things like </a:t>
            </a:r>
            <a:r>
              <a:rPr lang="en"/>
              <a:t>traffic</a:t>
            </a:r>
            <a:r>
              <a:rPr lang="en"/>
              <a:t> lights, lane markings and road signs.</a:t>
            </a:r>
            <a:endParaRPr/>
          </a:p>
        </p:txBody>
      </p:sp>
      <p:pic>
        <p:nvPicPr>
          <p:cNvPr id="230" name="Google Shape;23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5300" y="2571750"/>
            <a:ext cx="3235224" cy="25060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1" name="Google Shape;231;p29"/>
          <p:cNvCxnSpPr>
            <a:endCxn id="230" idx="1"/>
          </p:cNvCxnSpPr>
          <p:nvPr/>
        </p:nvCxnSpPr>
        <p:spPr>
          <a:xfrm>
            <a:off x="3730700" y="3382587"/>
            <a:ext cx="1734600" cy="44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2" name="Google Shape;232;p29"/>
          <p:cNvSpPr txBox="1"/>
          <p:nvPr/>
        </p:nvSpPr>
        <p:spPr>
          <a:xfrm>
            <a:off x="2818500" y="2883600"/>
            <a:ext cx="1599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Typical camera set up for an AV.(May Vary)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functions</a:t>
            </a:r>
            <a:endParaRPr/>
          </a:p>
        </p:txBody>
      </p:sp>
      <p:sp>
        <p:nvSpPr>
          <p:cNvPr id="238" name="Google Shape;238;p30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VANET’s(Vehicular Ad-Hoc Networks)- enables safer and more accurate and effective communication about navigation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Automotive Ethernet- transfers data between LiDAR, cameras, radar, AI compute platforms, and actuators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about network functions</a:t>
            </a:r>
            <a:endParaRPr/>
          </a:p>
        </p:txBody>
      </p:sp>
      <p:sp>
        <p:nvSpPr>
          <p:cNvPr id="244" name="Google Shape;244;p31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Byteflight- provides fault-tolerance, high speed data transfer, and utilizes optic fibers to avoid interference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Controller Area Network (CAN)- enables interconnection between electronic control units and prioritizes safety and high-priority messages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about network functions</a:t>
            </a:r>
            <a:endParaRPr/>
          </a:p>
        </p:txBody>
      </p:sp>
      <p:sp>
        <p:nvSpPr>
          <p:cNvPr id="250" name="Google Shape;250;p32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FlexRay- supports active steering while ensuring precision timing and reliable for safety-critical components.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Local Interconnect Network (LIN)- low-speed communication for non-safety-critical data acting as a secondary network to the CAN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3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about network functions</a:t>
            </a:r>
            <a:endParaRPr/>
          </a:p>
        </p:txBody>
      </p:sp>
      <p:sp>
        <p:nvSpPr>
          <p:cNvPr id="256" name="Google Shape;256;p33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Low-Voltage Differential Signaling (LVDS)- facilitate high speed reliable data transmission for sensors, cameras, and displays while minimizing power consumption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Media Oriented Systems Transport (MOST)- provides a high-bandwidth low latency network for large amounts of sensor data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4"/>
          <p:cNvSpPr txBox="1"/>
          <p:nvPr>
            <p:ph type="title"/>
          </p:nvPr>
        </p:nvSpPr>
        <p:spPr>
          <a:xfrm>
            <a:off x="2442225" y="18857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Questions?</a:t>
            </a:r>
            <a:endParaRPr sz="5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