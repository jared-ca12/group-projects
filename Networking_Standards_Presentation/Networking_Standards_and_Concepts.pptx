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9" r:id="rId4"/>
    <p:sldMasterId id="2147483750" r:id="rId5"/>
    <p:sldMasterId id="21474837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Quantico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3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schemas.openxmlformats.org/officeDocument/2006/relationships/font" Target="fonts/Lato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Quantico-bold.fntdata"/><Relationship Id="rId14" Type="http://schemas.openxmlformats.org/officeDocument/2006/relationships/slide" Target="slides/slide7.xml"/><Relationship Id="rId36" Type="http://schemas.openxmlformats.org/officeDocument/2006/relationships/font" Target="fonts/Quantico-regular.fntdata"/><Relationship Id="rId17" Type="http://schemas.openxmlformats.org/officeDocument/2006/relationships/slide" Target="slides/slide10.xml"/><Relationship Id="rId39" Type="http://schemas.openxmlformats.org/officeDocument/2006/relationships/font" Target="fonts/Quantico-boldItalic.fntdata"/><Relationship Id="rId16" Type="http://schemas.openxmlformats.org/officeDocument/2006/relationships/slide" Target="slides/slide9.xml"/><Relationship Id="rId38" Type="http://schemas.openxmlformats.org/officeDocument/2006/relationships/font" Target="fonts/Quantic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d6a9308de9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d6a9308de9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d6a9308de9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d6a9308de9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d6a9308de9_1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d6a9308de9_1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d6a9308de9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d6a9308de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d6a9308de9_1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d6a9308de9_1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d6a9308de9_1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d6a9308de9_1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d6a9308de9_1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d6a9308de9_1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6a9308de9_1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d6a9308de9_1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6a9308de9_1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6a9308de9_1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d6a9308de9_1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d6a9308de9_1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d6a9308de9_1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d6a9308de9_1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e662fb0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e662fb0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e662fb08d4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e662fb08d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e662fb08d4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e662fb08d4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e662fb08d4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e662fb08d4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d6a9308de9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d6a9308de9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d6a9308de9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d6a9308de9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d6a9308de9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d6a9308de9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d6a9308de9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d6a9308de9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d6a9308de9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d6a9308de9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d6a9308de9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d6a9308de9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d6a9308de9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d6a9308de9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d6a9308de9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d6a9308de9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d6a9308de9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d6a9308de9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d6a9308de9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d6a9308de9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d6a9308de9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d6a9308de9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d9d1239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d9d1239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da84e45d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da84e45d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88" name="Google Shape;88;p17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89" name="Google Shape;89;p17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0" name="Google Shape;90;p17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8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3" name="Google Shape;123;p21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22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133" name="Google Shape;133;p22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7" name="Google Shape;137;p23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23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0" name="Google Shape;140;p23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1" name="Google Shape;141;p23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25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1" name="Google Shape;161;p25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5" name="Google Shape;165;p25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8" name="Google Shape;168;p25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3" name="Google Shape;173;p26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74" name="Google Shape;174;p26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27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27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5" name="Google Shape;185;p27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7" name="Google Shape;187;p27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8" name="Google Shape;188;p27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9" name="Google Shape;219;p29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1" name="Google Shape;221;p29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1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7" name="Google Shape;267;p31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9" name="Google Shape;269;p31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31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1" name="Google Shape;271;p31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2" name="Google Shape;272;p31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4" name="Google Shape;274;p31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5" name="Google Shape;275;p31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2" name="Google Shape;292;p33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3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4" name="Google Shape;294;p33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5" name="Google Shape;295;p33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8" name="Google Shape;298;p33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33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0" name="Google Shape;300;p33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4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4" name="Google Shape;304;p34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6" name="Google Shape;306;p34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34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0" name="Google Shape;310;p34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1" name="Google Shape;311;p34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35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8" name="Google Shape;318;p35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9" name="Google Shape;319;p35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0" name="Google Shape;320;p35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3" name="Google Shape;323;p35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9" name="Google Shape;329;p35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2" name="Google Shape;332;p35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4" name="Google Shape;334;p35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5" name="Google Shape;335;p35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6" name="Google Shape;336;p35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7" name="Google Shape;337;p35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8" name="Google Shape;338;p35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5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3" name="Google Shape;343;p36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4" name="Google Shape;344;p36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6" name="Google Shape;346;p36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7" name="Google Shape;347;p36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9" name="Google Shape;349;p36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2" name="Google Shape;352;p37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53" name="Google Shape;353;p37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7" name="Google Shape;357;p38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8" name="Google Shape;358;p38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9" name="Google Shape;359;p38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60" name="Google Shape;360;p38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1" name="Google Shape;361;p38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2" name="Google Shape;362;p38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3" name="Google Shape;363;p38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4" name="Google Shape;364;p38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5" name="Google Shape;365;p38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6" name="Google Shape;366;p38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7" name="Google Shape;367;p38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8" name="Google Shape;368;p38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1" name="Google Shape;371;p39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2" name="Google Shape;372;p39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4" name="Google Shape;374;p39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75" name="Google Shape;375;p39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" name="Google Shape;376;p39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7" name="Google Shape;377;p39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8" name="Google Shape;378;p39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8" name="Google Shape;38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3" name="Google Shape;39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4" name="Google Shape;39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9" name="Google Shape;39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6" name="Google Shape;41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7" name="Google Shape;41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3" name="Google Shape;43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2" name="Google Shape;44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7" name="Google Shape;44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5" name="Google Shape;45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6" name="Google Shape;45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7" name="Google Shape;45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8" name="Google Shape;45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9" name="Google Shape;46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0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7" name="Google Shape;477;p60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8" name="Google Shape;478;p60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9" name="Google Shape;479;p60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80" name="Google Shape;480;p60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1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83" name="Google Shape;483;p61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84" name="Google Shape;484;p61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85" name="Google Shape;485;p61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86" name="Google Shape;486;p61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7" name="Google Shape;487;p61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8" name="Google Shape;488;p61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1" name="Google Shape;491;p62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2" name="Google Shape;492;p62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3" name="Google Shape;493;p62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4" name="Google Shape;494;p62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95" name="Google Shape;495;p62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96" name="Google Shape;496;p62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97" name="Google Shape;497;p62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98" name="Google Shape;498;p62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99" name="Google Shape;499;p62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0" name="Google Shape;500;p62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1" name="Google Shape;501;p62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2" name="Google Shape;502;p62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03" name="Google Shape;503;p62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3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6" name="Google Shape;506;p63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7" name="Google Shape;507;p63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8" name="Google Shape;508;p63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09" name="Google Shape;509;p63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510" name="Google Shape;510;p63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511" name="Google Shape;511;p63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512" name="Google Shape;512;p63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513" name="Google Shape;513;p63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514" name="Google Shape;514;p63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7" name="Google Shape;517;p64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8" name="Google Shape;518;p64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9" name="Google Shape;519;p64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20" name="Google Shape;520;p64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21" name="Google Shape;521;p64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64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23" name="Google Shape;523;p64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4" name="Google Shape;524;p64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25" name="Google Shape;525;p64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6" name="Google Shape;526;p64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5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9" name="Google Shape;529;p65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0" name="Google Shape;530;p65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1" name="Google Shape;531;p65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6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4" name="Google Shape;534;p66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5" name="Google Shape;535;p66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6" name="Google Shape;536;p66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7" name="Google Shape;537;p66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8" name="Google Shape;538;p66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39" name="Google Shape;539;p66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2" name="Google Shape;542;p67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3" name="Google Shape;543;p67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4" name="Google Shape;544;p67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45" name="Google Shape;545;p67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546" name="Google Shape;546;p67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7" name="Google Shape;547;p67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8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0" name="Google Shape;550;p68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1" name="Google Shape;551;p68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2" name="Google Shape;552;p68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53" name="Google Shape;553;p68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4" name="Google Shape;554;p68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555" name="Google Shape;555;p68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9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8" name="Google Shape;558;p69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9" name="Google Shape;559;p69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60" name="Google Shape;560;p69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1" name="Google Shape;561;p69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62" name="Google Shape;562;p69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63" name="Google Shape;563;p69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64" name="Google Shape;564;p69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65" name="Google Shape;565;p69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66" name="Google Shape;566;p69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69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8" name="Google Shape;568;p69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70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71" name="Google Shape;571;p70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2" name="Google Shape;572;p70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3" name="Google Shape;573;p70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4" name="Google Shape;574;p70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5" name="Google Shape;575;p70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6" name="Google Shape;576;p70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77" name="Google Shape;577;p70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1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80" name="Google Shape;580;p71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81" name="Google Shape;581;p71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82" name="Google Shape;582;p71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83" name="Google Shape;583;p71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84" name="Google Shape;584;p71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85" name="Google Shape;585;p71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86" name="Google Shape;586;p71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87" name="Google Shape;587;p71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588" name="Google Shape;588;p71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9" name="Google Shape;589;p71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90" name="Google Shape;590;p71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91" name="Google Shape;591;p71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94" name="Google Shape;594;p72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95" name="Google Shape;595;p72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596" name="Google Shape;596;p72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7" name="Google Shape;597;p72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8" name="Google Shape;598;p72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99" name="Google Shape;599;p72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0" name="Google Shape;600;p72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1" name="Google Shape;601;p72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3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04" name="Google Shape;604;p73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05" name="Google Shape;605;p73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06" name="Google Shape;606;p73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07" name="Google Shape;607;p73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08" name="Google Shape;608;p73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09" name="Google Shape;609;p73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10" name="Google Shape;610;p73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1" name="Google Shape;611;p73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2" name="Google Shape;612;p73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3" name="Google Shape;613;p73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4" name="Google Shape;614;p73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5" name="Google Shape;615;p73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73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7" name="Google Shape;617;p73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8" name="Google Shape;618;p73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9" name="Google Shape;619;p73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0" name="Google Shape;620;p73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1" name="Google Shape;621;p73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2" name="Google Shape;622;p73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4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25" name="Google Shape;625;p74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26" name="Google Shape;626;p74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27" name="Google Shape;627;p74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8" name="Google Shape;628;p74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29" name="Google Shape;629;p74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0" name="Google Shape;630;p74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1" name="Google Shape;631;p74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2" name="Google Shape;632;p74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3" name="Google Shape;633;p74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4" name="Google Shape;634;p74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5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7" name="Google Shape;637;p75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8" name="Google Shape;638;p75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39" name="Google Shape;639;p75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40" name="Google Shape;640;p75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41" name="Google Shape;641;p75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42" name="Google Shape;642;p75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43" name="Google Shape;643;p75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4" name="Google Shape;644;p75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5" name="Google Shape;645;p75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46" name="Google Shape;646;p75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7" name="Google Shape;647;p75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8" name="Google Shape;648;p75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49" name="Google Shape;649;p75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50" name="Google Shape;650;p75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51" name="Google Shape;651;p75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2" name="Google Shape;652;p75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3" name="Google Shape;653;p75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4" name="Google Shape;654;p75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55" name="Google Shape;655;p75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6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8" name="Google Shape;658;p76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59" name="Google Shape;659;p76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0" name="Google Shape;660;p76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61" name="Google Shape;661;p76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62" name="Google Shape;662;p76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3" name="Google Shape;663;p76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4" name="Google Shape;664;p76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5" name="Google Shape;665;p76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6" name="Google Shape;666;p76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76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68" name="Google Shape;668;p76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76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70" name="Google Shape;670;p76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1" name="Google Shape;671;p76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72" name="Google Shape;672;p76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3" name="Google Shape;673;p76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76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76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76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7" name="Google Shape;677;p76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8" name="Google Shape;678;p76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76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76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1" name="Google Shape;681;p76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7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684" name="Google Shape;684;p77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5" name="Google Shape;685;p77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6" name="Google Shape;686;p77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7" name="Google Shape;687;p77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8" name="Google Shape;688;p77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9" name="Google Shape;689;p77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77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91" name="Google Shape;691;p77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2" name="Google Shape;692;p77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93" name="Google Shape;693;p77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94" name="Google Shape;694;p77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95" name="Google Shape;695;p77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96" name="Google Shape;696;p77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97" name="Google Shape;697;p77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8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" name="Google Shape;700;p78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01" name="Google Shape;701;p78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02" name="Google Shape;702;p78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03" name="Google Shape;703;p78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04" name="Google Shape;704;p78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05" name="Google Shape;705;p78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06" name="Google Shape;706;p78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07" name="Google Shape;707;p78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08" name="Google Shape;708;p78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09" name="Google Shape;709;p78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0" name="Google Shape;710;p78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1" name="Google Shape;711;p78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9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14" name="Google Shape;714;p79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79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16" name="Google Shape;716;p79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7" name="Google Shape;717;p79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18" name="Google Shape;718;p79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9" name="Google Shape;719;p79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20" name="Google Shape;720;p79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21" name="Google Shape;721;p79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22" name="Google Shape;722;p79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" name="Google Shape;725;p8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26" name="Google Shape;726;p8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7" name="Google Shape;727;p80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28" name="Google Shape;728;p80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9" name="Google Shape;729;p80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0" name="Google Shape;730;p80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31" name="Google Shape;731;p80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2" name="Google Shape;732;p80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33" name="Google Shape;733;p80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4" name="Google Shape;734;p80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1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7" name="Google Shape;737;p81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38" name="Google Shape;738;p81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39" name="Google Shape;739;p81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0" name="Google Shape;740;p81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1" name="Google Shape;741;p81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2" name="Google Shape;742;p81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3" name="Google Shape;743;p81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4" name="Google Shape;744;p81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5" name="Google Shape;745;p81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6" name="Google Shape;746;p81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7" name="Google Shape;747;p81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8" name="Google Shape;748;p81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81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0" name="Google Shape;750;p81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1" name="Google Shape;751;p81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2" name="Google Shape;752;p81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3" name="Google Shape;753;p81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4" name="Google Shape;754;p81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5" name="Google Shape;755;p81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81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81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81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81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0" name="Google Shape;760;p81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1" name="Google Shape;761;p81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2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4" name="Google Shape;764;p82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5" name="Google Shape;765;p82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6" name="Google Shape;766;p82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7" name="Google Shape;767;p82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8" name="Google Shape;768;p82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9" name="Google Shape;769;p82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0" name="Google Shape;770;p82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1" name="Google Shape;771;p82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3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4" name="Google Shape;774;p83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75" name="Google Shape;775;p83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6" name="Google Shape;776;p83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4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9" name="Google Shape;779;p84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80" name="Google Shape;780;p84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81" name="Google Shape;781;p84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82" name="Google Shape;782;p84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3" name="Google Shape;783;p84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4" name="Google Shape;784;p84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85" name="Google Shape;785;p84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6" name="Google Shape;786;p84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87" name="Google Shape;787;p84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8" name="Google Shape;788;p84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89" name="Google Shape;789;p84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90" name="Google Shape;790;p84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5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93" name="Google Shape;793;p85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94" name="Google Shape;794;p85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95" name="Google Shape;795;p85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96" name="Google Shape;796;p85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797" name="Google Shape;797;p85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8" name="Google Shape;798;p85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99" name="Google Shape;799;p85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0" name="Google Shape;800;p85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5" name="Google Shape;805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0" name="Google Shape;810;p8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5" name="Google Shape;815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6" name="Google Shape;816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9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9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1" name="Google Shape;821;p9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9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5" name="Google Shape;825;p9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6" name="Google Shape;826;p9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7" name="Google Shape;827;p9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8" name="Google Shape;828;p9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9" name="Google Shape;829;p9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9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3" name="Google Shape;833;p9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4" name="Google Shape;834;p9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9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7" name="Google Shape;837;p9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8" name="Google Shape;838;p9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9" name="Google Shape;839;p9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0" name="Google Shape;840;p9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9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3" name="Google Shape;843;p9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4" name="Google Shape;844;p9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9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9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9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9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1" name="Google Shape;851;p9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2" name="Google Shape;852;p9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3" name="Google Shape;853;p9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4" name="Google Shape;854;p9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5" name="Google Shape;855;p9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6" name="Google Shape;856;p9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7" name="Google Shape;857;p9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8" name="Google Shape;858;p9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1" name="Google Shape;861;p10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4" name="Google Shape;864;p10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10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10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7" name="Google Shape;867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10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10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0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2" name="Google Shape;872;p10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3" name="Google Shape;873;p10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10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5" name="Google Shape;875;p10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10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7" name="Google Shape;877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8" name="Google Shape;878;p10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9" name="Google Shape;879;p10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0" name="Google Shape;880;p10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0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0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5" name="Google Shape;885;p10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6" name="Google Shape;886;p10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7" name="Google Shape;887;p10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8" name="Google Shape;888;p10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9" name="Google Shape;889;p10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0" name="Google Shape;890;p10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1" name="Google Shape;891;p10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2" name="Google Shape;892;p10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93" name="Google Shape;893;p10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78.xml"/><Relationship Id="rId44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80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79.xml"/><Relationship Id="rId45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85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9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4" name="Google Shape;474;p59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  <p:sldLayoutId id="2147483745" r:id="rId42"/>
    <p:sldLayoutId id="2147483746" r:id="rId43"/>
    <p:sldLayoutId id="2147483747" r:id="rId44"/>
    <p:sldLayoutId id="2147483748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geeksforgeeks.org/computer-networks/tcp-ip-model/" TargetMode="External"/><Relationship Id="rId4" Type="http://schemas.openxmlformats.org/officeDocument/2006/relationships/hyperlink" Target="https://www.geeksforgeeks.org/computer-networks/tcp-ip-model/" TargetMode="External"/><Relationship Id="rId5" Type="http://schemas.openxmlformats.org/officeDocument/2006/relationships/hyperlink" Target="https://www.network-supply.com/blogs/knowledge/the-osi-model-explained?srsltid=AfmBOoq0x8l-VW_b6oJElZS2NFkuFlrHpNcxxUP2bWWIlIFzHMCYlzkV" TargetMode="External"/><Relationship Id="rId6" Type="http://schemas.openxmlformats.org/officeDocument/2006/relationships/hyperlink" Target="https://www.geeksforgeeks.org/computer-networks/application-layer-in-osi-model/" TargetMode="External"/><Relationship Id="rId7" Type="http://schemas.openxmlformats.org/officeDocument/2006/relationships/hyperlink" Target="https://www.geeksforgeeks.org/computer-networks/presentation-layer-in-osi-model/" TargetMode="External"/><Relationship Id="rId8" Type="http://schemas.openxmlformats.org/officeDocument/2006/relationships/hyperlink" Target="https://www.geeksforgeeks.org/computer-networks/how-data-encapsulation-de-encapsulation-works/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azure.microsoft.com/en-us/resources/cloud-computing-dictionary/what-is-a-public-cloud" TargetMode="External"/><Relationship Id="rId4" Type="http://schemas.openxmlformats.org/officeDocument/2006/relationships/hyperlink" Target="https://www.google.com/url?sa=t&amp;rct=j&amp;q=&amp;esrc=s&amp;source=web&amp;cd=&amp;cad=rja&amp;uact=8&amp;ved=2ahUKEwia0P7J4ZCUAxXhliYFHXWKHu4QFnoECCUQAQ&amp;url=https%3A%2F%2Fen.wikipedia.org%2Fwiki%2FSoftware_as_a_service&amp;usg=AOvVaw38DpLC0hE8TMheefzJprIs&amp;opi=89978449" TargetMode="External"/><Relationship Id="rId5" Type="http://schemas.openxmlformats.org/officeDocument/2006/relationships/hyperlink" Target="https://www.google.com/url?sa=t&amp;rct=j&amp;q=&amp;esrc=s&amp;source=web&amp;cd=&amp;cad=rja&amp;uact=8&amp;ved=2ahUKEwjV9a7s4ZCUAxXdk2oFHXw0HjIQFnoECCUQAQ&amp;url=https%3A%2F%2Fen.wikipedia.org%2Fwiki%2FDynamic_Host_Configuration_Protocol&amp;usg=AOvVaw2R5DVDEWFjzfWFlBEsl1I6&amp;opi=89978449" TargetMode="External"/><Relationship Id="rId6" Type="http://schemas.openxmlformats.org/officeDocument/2006/relationships/hyperlink" Target="https://www.google.com/url?sa=t&amp;rct=j&amp;q=&amp;esrc=s&amp;source=web&amp;cd=&amp;cad=rja&amp;uact=8&amp;ved=2ahUKEwju2JCF4pCUAxUql2oFHR2LBycQFnoECCQQAQ&amp;url=https%3A%2F%2Fwww.cloudflare.com%2Flearning%2Fdns%2Fwhat-is-dns%2F&amp;usg=AOvVaw0ZNPBtLlK-CpUu_FS4yYVq&amp;opi=89978449" TargetMode="External"/><Relationship Id="rId7" Type="http://schemas.openxmlformats.org/officeDocument/2006/relationships/hyperlink" Target="https://en.wikipedia.org/wiki/Network_Time_Protocol#:~:text=The%20Network%20Time%20Protocol%20(NTP,of%20the%20University%20of%20Delaware.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05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By Connor and </a:t>
            </a:r>
            <a:r>
              <a:rPr lang="en"/>
              <a:t>Jared.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9" name="Google Shape;899;p105"/>
          <p:cNvSpPr txBox="1"/>
          <p:nvPr>
            <p:ph type="title"/>
          </p:nvPr>
        </p:nvSpPr>
        <p:spPr>
          <a:xfrm>
            <a:off x="876900" y="874250"/>
            <a:ext cx="50796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6300"/>
              <a:t>1.0 Standards and Concepts</a:t>
            </a:r>
            <a:endParaRPr sz="6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904" name="Google Shape;904;p106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905" name="Google Shape;905;p106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906" name="Google Shape;906;p106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907" name="Google Shape;907;p106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908" name="Google Shape;908;p106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909" name="Google Shape;909;p106"/>
          <p:cNvSpPr txBox="1"/>
          <p:nvPr>
            <p:ph idx="1" type="subTitle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descr="Spaces to add section titles" id="910" name="Google Shape;910;p106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1.1: OSI vs. TCP/IP, data encapsulation (frames/packets).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Spaces to add section titles" id="911" name="Google Shape;911;p106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1.2: Differentiating bandwidth from throughput, latency and delay understanding.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Spaces to add section titles" id="912" name="Google Shape;912;p106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1.3: Understanding PAN,  LAN, CAN, MAN, WAN, and WLAN, Start, Bus, Ring, Mesh, and Hybrid Physical/Logical layouts</a:t>
            </a:r>
            <a:endParaRPr/>
          </a:p>
        </p:txBody>
      </p:sp>
      <p:sp>
        <p:nvSpPr>
          <p:cNvPr descr="Spaces to add section titles" id="913" name="Google Shape;913;p106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accent5"/>
                </a:solidFill>
              </a:rPr>
              <a:t>1.4: SaaS, PaaS, IaaS models, Public, Private, and Hybrid cloud environments.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descr="Spaces to add section titles" id="914" name="Google Shape;914;p106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accent5"/>
                </a:solidFill>
              </a:rPr>
              <a:t>1.5: TCP vs. UDP, DHCP, DNS, HTTP/S, and NTP.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0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OSI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920" name="Google Shape;92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926" y="1771701"/>
            <a:ext cx="4607799" cy="307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08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Layer 7 - Application Layer</a:t>
            </a:r>
            <a:endParaRPr/>
          </a:p>
        </p:txBody>
      </p:sp>
      <p:sp>
        <p:nvSpPr>
          <p:cNvPr id="926" name="Google Shape;926;p108"/>
          <p:cNvSpPr txBox="1"/>
          <p:nvPr>
            <p:ph idx="2" type="title"/>
          </p:nvPr>
        </p:nvSpPr>
        <p:spPr>
          <a:xfrm>
            <a:off x="920550" y="1881950"/>
            <a:ext cx="72267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Application Layer is what the user interacts with. Its responsibilities include: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Presenting data in a readable format using HTML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Allowing applications and users to use protocols such as HTTP, FTP, SMTP, and DNS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6 - Presentation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32" name="Google Shape;932;p109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Presentation Layer is responsible for formatting data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Handles encryption and decryption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Is responsible for compression and decompression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Converts data into the correct format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10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5 - Session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38" name="Google Shape;938;p110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Session Layer manages the connection between devices.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Manages data exchange and integrity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Initiates, manages, and tears down the connection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11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4 - Transport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44" name="Google Shape;944;p111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The Transport Layer delivers data </a:t>
            </a:r>
            <a:r>
              <a:rPr lang="en"/>
              <a:t>across network connections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Segments, transfers, and reassembles data packets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Supports flow control and delivery errors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Delivers data to the correct port number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12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 3 - Network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50" name="Google Shape;950;p112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The Network Layer provides the services to exchange data between devices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Provides the map between </a:t>
            </a:r>
            <a:r>
              <a:rPr lang="en"/>
              <a:t>physical</a:t>
            </a:r>
            <a:r>
              <a:rPr lang="en"/>
              <a:t> and logical addresses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Delivers the data to the correct IP address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Delivers the data using the provided route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13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Layer 2 - Data Link Layer</a:t>
            </a:r>
            <a:endParaRPr/>
          </a:p>
        </p:txBody>
      </p:sp>
      <p:sp>
        <p:nvSpPr>
          <p:cNvPr id="956" name="Google Shape;956;p113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The Data Link Layer transfers data to different devices on the same network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Delivers data to the correct Mac address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Encapsulates data into frames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14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Layer 1 - Physical Layer</a:t>
            </a:r>
            <a:endParaRPr/>
          </a:p>
        </p:txBody>
      </p:sp>
      <p:sp>
        <p:nvSpPr>
          <p:cNvPr id="962" name="Google Shape;962;p114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The Physical Layer transfers bits over a physical medium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Turns raw data into electrical signals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Controls how bits are transferred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15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TCP/IP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968" name="Google Shape;968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4350" y="1813200"/>
            <a:ext cx="3322650" cy="31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16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Data Encapsulation</a:t>
            </a:r>
            <a:endParaRPr/>
          </a:p>
        </p:txBody>
      </p:sp>
      <p:sp>
        <p:nvSpPr>
          <p:cNvPr id="974" name="Google Shape;974;p116"/>
          <p:cNvSpPr txBox="1"/>
          <p:nvPr>
            <p:ph idx="2" type="title"/>
          </p:nvPr>
        </p:nvSpPr>
        <p:spPr>
          <a:xfrm>
            <a:off x="920550" y="1881950"/>
            <a:ext cx="6834600" cy="315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Data is encapsulated at each layer to provide information of where to go.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Application, Presentation, and Session Layer - No data is added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Transport Layer - A header with the destination and source port number is added. The encapsulated data is called segments if using TCP, and datagrams if using UDP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.Network Layer - A header with the destination and source IP address is added. The encapsulated data is called packets.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Data Link Layer - A header and trailer with the destination and source Mac address is added. The encapsulated data is called Frames.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Physical Layer - The frames are received and turned into bits.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1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Network Traffic</a:t>
            </a:r>
            <a:endParaRPr/>
          </a:p>
        </p:txBody>
      </p:sp>
      <p:sp>
        <p:nvSpPr>
          <p:cNvPr id="980" name="Google Shape;980;p11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Bandwidth - Maximum amount of data that can be transferred at a time.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Throughput - Rate at which bits are being sent.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Latency - Time it takes for data to travel from one end to the other.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Delay - Total time it takes for a packet to reach its destination.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18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Different Types of Networks and Sizes</a:t>
            </a:r>
            <a:endParaRPr/>
          </a:p>
        </p:txBody>
      </p:sp>
      <p:sp>
        <p:nvSpPr>
          <p:cNvPr id="986" name="Google Shape;986;p118"/>
          <p:cNvSpPr txBox="1"/>
          <p:nvPr>
            <p:ph idx="2" type="title"/>
          </p:nvPr>
        </p:nvSpPr>
        <p:spPr>
          <a:xfrm>
            <a:off x="920550" y="1881950"/>
            <a:ext cx="7396500" cy="315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Local Area Network (LAN) - Network over a small geographical area such as a home or office.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Wide Area Network (WAN) - Network over a large geographical area such as a city or country.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Metropolitan Area Network (MAN) - Network over a city or large area. Not as big as a WAN.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Personal Area Network (PAN) - Network that connects devices tied to a single person such as a phone, watch, headphones, etc.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Campus Area Network (CAN) - Network that connects multiple LANs in a spread out area such as a university campus or business park.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Wireless Local Area Network (WLAN) - A LAN that is connected wirelessly.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1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Different Physical/Logical Layouts</a:t>
            </a:r>
            <a:endParaRPr/>
          </a:p>
        </p:txBody>
      </p:sp>
      <p:sp>
        <p:nvSpPr>
          <p:cNvPr id="992" name="Google Shape;992;p119"/>
          <p:cNvSpPr txBox="1"/>
          <p:nvPr>
            <p:ph idx="2" type="title"/>
          </p:nvPr>
        </p:nvSpPr>
        <p:spPr>
          <a:xfrm>
            <a:off x="920550" y="1881950"/>
            <a:ext cx="74475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Ring - Design where each device is connected to two devices to form a circle.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Star - Design where each device is connected to a central device or hub.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Mesh - Design where each device is connected to many or all of the other devices to create redundancy.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Bus - Design where each device is connected to the same cable.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Hybrid - Design that uses multiple different topologies in the network.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20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SaaS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998" name="Google Shape;998;p120"/>
          <p:cNvSpPr txBox="1"/>
          <p:nvPr>
            <p:ph idx="2" type="title"/>
          </p:nvPr>
        </p:nvSpPr>
        <p:spPr>
          <a:xfrm>
            <a:off x="867575" y="2113275"/>
            <a:ext cx="79392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SaaS or software as a service is when software is being sold as a service, usually used over the internet via the cloud. It often is used with subscription based monetization. SaaS can be anything from, Zoom to Microsoft 365. 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999" name="Google Shape;999;p120"/>
          <p:cNvSpPr txBox="1"/>
          <p:nvPr/>
        </p:nvSpPr>
        <p:spPr>
          <a:xfrm>
            <a:off x="1241625" y="3350300"/>
            <a:ext cx="68481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Benefits: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Cost effectiveness, SaaS can be a better financial decision for some companies, because it is a better financial decision to buy from a different company than to create a in house solution. 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000" name="Google Shape;1000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7967" y="0"/>
            <a:ext cx="3456034" cy="19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21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06" name="Google Shape;1006;p121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Platform as a service, serves as a cloud pre-built </a:t>
            </a:r>
            <a:r>
              <a:rPr lang="en"/>
              <a:t>platform</a:t>
            </a:r>
            <a:r>
              <a:rPr lang="en"/>
              <a:t> for developers to build deploy and manage applications. This provides a easy to maintain way to scale up and manage infrastructure such as servers and storage without have to setup a </a:t>
            </a:r>
            <a:r>
              <a:rPr lang="en"/>
              <a:t>efficient</a:t>
            </a:r>
            <a:r>
              <a:rPr lang="en"/>
              <a:t> system themselves.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007" name="Google Shape;100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829" y="-3"/>
            <a:ext cx="3464721" cy="181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121"/>
          <p:cNvSpPr txBox="1"/>
          <p:nvPr/>
        </p:nvSpPr>
        <p:spPr>
          <a:xfrm>
            <a:off x="7820425" y="1813200"/>
            <a:ext cx="1164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 CloudBlue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9" name="Google Shape;1009;p121"/>
          <p:cNvSpPr txBox="1"/>
          <p:nvPr/>
        </p:nvSpPr>
        <p:spPr>
          <a:xfrm>
            <a:off x="2359075" y="3402900"/>
            <a:ext cx="52284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Benefits: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This could help companies and developers create and launch their applications faster while also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possibly reduce costs and increase scalability.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22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IaaS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15" name="Google Shape;1015;p122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"/>
              <a:t>Infrastructure as a Service, is a cloud computing model that provides </a:t>
            </a:r>
            <a:r>
              <a:rPr lang="en"/>
              <a:t>fundamental</a:t>
            </a:r>
            <a:r>
              <a:rPr lang="en"/>
              <a:t> network infrastructure such as, servers storage and networking. It </a:t>
            </a:r>
            <a:r>
              <a:rPr lang="en"/>
              <a:t>usually</a:t>
            </a:r>
            <a:r>
              <a:rPr lang="en"/>
              <a:t> is a pay-as-you-go model so the company only pays for what they need and how much they need.</a:t>
            </a:r>
            <a:endParaRPr/>
          </a:p>
        </p:txBody>
      </p:sp>
      <p:sp>
        <p:nvSpPr>
          <p:cNvPr id="1016" name="Google Shape;1016;p122"/>
          <p:cNvSpPr txBox="1"/>
          <p:nvPr/>
        </p:nvSpPr>
        <p:spPr>
          <a:xfrm>
            <a:off x="2183700" y="3402900"/>
            <a:ext cx="56619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Benefits: 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With this model it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eliminates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the need to for companies to buy or store physical hardware it also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allows companies to scale instastly and easier, it may also reduce the cost because there is not need to store the hardware.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7" name="Google Shape;1017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600" y="0"/>
            <a:ext cx="3626400" cy="18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122"/>
          <p:cNvSpPr txBox="1"/>
          <p:nvPr/>
        </p:nvSpPr>
        <p:spPr>
          <a:xfrm>
            <a:off x="7720200" y="1962400"/>
            <a:ext cx="11397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 GeeksforGeeks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23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Public Cloud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24" name="Google Shape;1024;p123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Public Cloud, is a cloud computing </a:t>
            </a:r>
            <a:r>
              <a:rPr lang="en"/>
              <a:t>based</a:t>
            </a:r>
            <a:r>
              <a:rPr lang="en"/>
              <a:t> </a:t>
            </a:r>
            <a:r>
              <a:rPr lang="en"/>
              <a:t>module</a:t>
            </a:r>
            <a:r>
              <a:rPr lang="en"/>
              <a:t> that the hosting company has made open to public and free (</a:t>
            </a:r>
            <a:r>
              <a:rPr lang="en"/>
              <a:t>usually only a trail/small bit of it.) some of the most used are Google drive, AWS, and Azure. 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25" name="Google Shape;1025;p123"/>
          <p:cNvSpPr txBox="1"/>
          <p:nvPr/>
        </p:nvSpPr>
        <p:spPr>
          <a:xfrm flipH="1">
            <a:off x="2830925" y="3193550"/>
            <a:ext cx="47508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BENEFITS: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Some benefits for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companies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that use Public Cloud are:  Low maintenance, for some companies cloud products are a better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financial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decision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because they do not have to implement computer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infrastructure.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24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Private Cloud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31" name="Google Shape;1031;p124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private cloud is a cloud </a:t>
            </a:r>
            <a:r>
              <a:rPr lang="en"/>
              <a:t>computing</a:t>
            </a:r>
            <a:r>
              <a:rPr lang="en"/>
              <a:t> model that is </a:t>
            </a:r>
            <a:r>
              <a:rPr lang="en"/>
              <a:t>usually</a:t>
            </a:r>
            <a:r>
              <a:rPr lang="en"/>
              <a:t> exclusively to a single organization, providing isolated access to computing resources such as storage, processing power, and networking without sharing them with other tenants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032" name="Google Shape;1032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0"/>
            <a:ext cx="3429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124"/>
          <p:cNvSpPr txBox="1"/>
          <p:nvPr/>
        </p:nvSpPr>
        <p:spPr>
          <a:xfrm>
            <a:off x="2857500" y="3639550"/>
            <a:ext cx="5068200" cy="15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Benefits: This model offers greater control, enhanced security, and customization, allowing organizations to tailor infrastructure to specific regulatory compliance needs or sensitive data requirements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4" name="Google Shape;1034;p124"/>
          <p:cNvSpPr txBox="1"/>
          <p:nvPr/>
        </p:nvSpPr>
        <p:spPr>
          <a:xfrm>
            <a:off x="7158800" y="1849850"/>
            <a:ext cx="17010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geeksforgeeks.org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25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Hybrid cloud environments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40" name="Google Shape;1040;p125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hybrid cloud is a mixed computing environment that combines a company’s on-premises infrastructure, private cloud services, and third-party public cloud services (ex.  AWS, Microsoft Azure, or Google Cloud) This architecture allows organizations to share data and applications between the different environments, creating a unified IT infrastructure where workloads can be moved and managed flexibly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41" name="Google Shape;1041;p125"/>
          <p:cNvSpPr txBox="1"/>
          <p:nvPr/>
        </p:nvSpPr>
        <p:spPr>
          <a:xfrm>
            <a:off x="2474925" y="3955375"/>
            <a:ext cx="5886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Benefits:  The biggest benefit of this model is the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agility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and flexibility it give to organizations that implement this model. I enables an easy way to keep private data on secure systems while also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giving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them the a great deal of control and flexibility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2" name="Google Shape;1042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652" y="1813202"/>
            <a:ext cx="2871350" cy="16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25"/>
          <p:cNvSpPr txBox="1"/>
          <p:nvPr/>
        </p:nvSpPr>
        <p:spPr>
          <a:xfrm>
            <a:off x="7068550" y="3549325"/>
            <a:ext cx="1597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sam-solutions.us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26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TCP vs. UDP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49" name="Google Shape;1049;p126"/>
          <p:cNvSpPr txBox="1"/>
          <p:nvPr>
            <p:ph idx="2" type="title"/>
          </p:nvPr>
        </p:nvSpPr>
        <p:spPr>
          <a:xfrm>
            <a:off x="920550" y="1881950"/>
            <a:ext cx="35010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TCP (Transmission Control Protocol) and UDP (User Datagram Protocol) are both different protocols for </a:t>
            </a:r>
            <a:r>
              <a:rPr lang="en"/>
              <a:t>internet</a:t>
            </a:r>
            <a:r>
              <a:rPr lang="en"/>
              <a:t> data transmission. The main difference is how they </a:t>
            </a:r>
            <a:r>
              <a:rPr lang="en"/>
              <a:t>approach</a:t>
            </a:r>
            <a:r>
              <a:rPr lang="en"/>
              <a:t> </a:t>
            </a:r>
            <a:r>
              <a:rPr lang="en"/>
              <a:t>reliability</a:t>
            </a:r>
            <a:r>
              <a:rPr lang="en"/>
              <a:t> and speed.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50" name="Google Shape;1050;p126"/>
          <p:cNvSpPr txBox="1"/>
          <p:nvPr/>
        </p:nvSpPr>
        <p:spPr>
          <a:xfrm>
            <a:off x="4424050" y="1813200"/>
            <a:ext cx="2060400" cy="1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TCP is the more reliable and slower it makes sure that the data arrives and is intact (used in Web Browsing, email, and file.)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1" name="Google Shape;1051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206" y="45050"/>
            <a:ext cx="3400795" cy="14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126"/>
          <p:cNvSpPr txBox="1"/>
          <p:nvPr/>
        </p:nvSpPr>
        <p:spPr>
          <a:xfrm>
            <a:off x="6847400" y="1813200"/>
            <a:ext cx="2060400" cy="1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UDP is connectionless and unreliable, prioritizing low latency and speed by sending data without checking for delivery. (used in VoIP calls, and video streaming)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3" name="Google Shape;1053;p126"/>
          <p:cNvSpPr txBox="1"/>
          <p:nvPr/>
        </p:nvSpPr>
        <p:spPr>
          <a:xfrm>
            <a:off x="7625025" y="1549075"/>
            <a:ext cx="1518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cheapsslsecurity.com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2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DHC</a:t>
            </a:r>
            <a:r>
              <a:rPr lang="en"/>
              <a:t>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59" name="Google Shape;1059;p127"/>
          <p:cNvSpPr txBox="1"/>
          <p:nvPr>
            <p:ph idx="2" type="title"/>
          </p:nvPr>
        </p:nvSpPr>
        <p:spPr>
          <a:xfrm>
            <a:off x="920550" y="1881950"/>
            <a:ext cx="6704400" cy="2283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DHCP (Dynamic Host Configuration Protocol) is a network management protocol that automatically assigns IP addresses and other communication parameters to devices on an IP network, eliminating the need for manual configuration.  It operates on a client-server architecture, where a central DHCP server manages a pool of available addresses and configuration details, such as subnet masks, default gateways, and DNS server addresses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060" name="Google Shape;1060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2025" y="0"/>
            <a:ext cx="2661974" cy="17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127"/>
          <p:cNvSpPr txBox="1"/>
          <p:nvPr/>
        </p:nvSpPr>
        <p:spPr>
          <a:xfrm>
            <a:off x="8001000" y="2015300"/>
            <a:ext cx="11430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grandmetric.com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28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67" name="Google Shape;1067;p128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Domain Name System (DNS) is the database that translates human readable domain names (like www.example.com) into machine-readable IP addresses (like 192.0.2.44) DNS allows users to access websites and services using memorable names rather than numeric identifiers, acting as an essential application-layer protocol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68" name="Google Shape;1068;p128"/>
          <p:cNvSpPr txBox="1"/>
          <p:nvPr/>
        </p:nvSpPr>
        <p:spPr>
          <a:xfrm>
            <a:off x="2474925" y="3489150"/>
            <a:ext cx="51048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69" name="Google Shape;1069;p128"/>
          <p:cNvPicPr preferRelativeResize="0"/>
          <p:nvPr/>
        </p:nvPicPr>
        <p:blipFill rotWithShape="1">
          <a:blip r:embed="rId3">
            <a:alphaModFix/>
          </a:blip>
          <a:srcRect b="20364" l="10052" r="5331" t="13045"/>
          <a:stretch/>
        </p:blipFill>
        <p:spPr>
          <a:xfrm>
            <a:off x="4346400" y="285750"/>
            <a:ext cx="4513450" cy="145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28"/>
          <p:cNvSpPr txBox="1"/>
          <p:nvPr/>
        </p:nvSpPr>
        <p:spPr>
          <a:xfrm>
            <a:off x="6827925" y="1864900"/>
            <a:ext cx="15642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techtarget.com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2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HTTP/S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76" name="Google Shape;1076;p129"/>
          <p:cNvSpPr txBox="1"/>
          <p:nvPr>
            <p:ph idx="2" type="title"/>
          </p:nvPr>
        </p:nvSpPr>
        <p:spPr>
          <a:xfrm>
            <a:off x="920550" y="1881950"/>
            <a:ext cx="5847300" cy="1953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HTTPS (Hypertext Transfer Protocol Secure) is an extension of the HTTP communications protocol that uses Transport Layer Security (TLS) encryption to support secure communication over a computer network.  It is the secure version of HTTP, widely used on the Internet to protect data integrity and privacy.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77" name="Google Shape;1077;p129"/>
          <p:cNvSpPr txBox="1"/>
          <p:nvPr/>
        </p:nvSpPr>
        <p:spPr>
          <a:xfrm>
            <a:off x="2474925" y="3489150"/>
            <a:ext cx="51048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30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NTP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83" name="Google Shape;1083;p130"/>
          <p:cNvSpPr txBox="1"/>
          <p:nvPr>
            <p:ph idx="2" type="title"/>
          </p:nvPr>
        </p:nvSpPr>
        <p:spPr>
          <a:xfrm>
            <a:off x="920550" y="1881950"/>
            <a:ext cx="6433800" cy="193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NTP stands for Network Time Protocol, a networking protocol designed to synchronize the clocks of computer systems over packet-switched, variable-latency data networks. NTP ensures that devices operate on a consistent and highly accurate time base, typically within tens of milliseconds over the public Internet and better than one millisecond in local area networks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84" name="Google Shape;1084;p130"/>
          <p:cNvSpPr txBox="1"/>
          <p:nvPr/>
        </p:nvSpPr>
        <p:spPr>
          <a:xfrm>
            <a:off x="2474925" y="3489150"/>
            <a:ext cx="51048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31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090" name="Google Shape;1090;p131"/>
          <p:cNvSpPr txBox="1"/>
          <p:nvPr>
            <p:ph idx="2" type="title"/>
          </p:nvPr>
        </p:nvSpPr>
        <p:spPr>
          <a:xfrm>
            <a:off x="920550" y="1881950"/>
            <a:ext cx="7745700" cy="308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TCP/IP Model - GeeksforGeeks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4"/>
              </a:rPr>
              <a:t>https://www.geeksforgeeks.org/computer-networks/tcp-ip-model/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OSI Model Explained - NetworkSupply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5"/>
              </a:rPr>
              <a:t>https://www.network-supply.com/blogs/knowledge/the-osi-model-explained?srsltid=AfmBOoq0x8l-VW_b6oJElZS2NFkuFlrHpNcxxUP2bWWIlIFzHMCYlzkV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Application Layer in OSI Model - GeeksforGeeks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6"/>
              </a:rPr>
              <a:t>https://www.geeksforgeeks.org/computer-networks/application-layer-in-osi-model/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Presentation Layer in OSI Model - GeeksforGeeks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7"/>
              </a:rPr>
              <a:t>https://www.geeksforgeeks.org/computer-networks/presentation-layer-in-osi-model/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How Data Encapsulation and De-encapsulation Works - GeeksforGeeks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8"/>
              </a:rPr>
              <a:t>https://www.geeksforgeeks.org/computer-networks/how-data-encapsulation-de-encapsulation-works/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32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r>
              <a:rPr lang="en"/>
              <a:t> cont.</a:t>
            </a:r>
            <a:endParaRPr/>
          </a:p>
        </p:txBody>
      </p:sp>
      <p:sp>
        <p:nvSpPr>
          <p:cNvPr id="1096" name="Google Shape;1096;p132"/>
          <p:cNvSpPr txBox="1"/>
          <p:nvPr>
            <p:ph idx="2" type="title"/>
          </p:nvPr>
        </p:nvSpPr>
        <p:spPr>
          <a:xfrm>
            <a:off x="920550" y="1881950"/>
            <a:ext cx="7107600" cy="297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What is Public - Microsoft Azure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SaaS - Wikipedia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DCHP - Wikipedia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DNS - Cloudflare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NTP - Wikipedia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